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00000"/>
                </a:solidFill>
                <a:latin typeface="Arial"/>
              </a:rPr>
              <a:t>TAR por Época (melhor checkpoint: época 20)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TAR@FAR=1%</c:v>
                </c:pt>
              </c:strCache>
            </c:strRef>
          </c:tx>
          <c:spPr>
            <a:solidFill>
              <a:srgbClr val="0D7377"/>
            </a:solidFill>
            <a:ln w="31750" cap="flat">
              <a:solidFill>
                <a:srgbClr val="0D737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D7377"/>
              </a:solidFill>
              <a:ln w="9525" cap="flat">
                <a:solidFill>
                  <a:srgbClr val="0D737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5</c:v>
                  </c:pt>
                  <c:pt idx="1">
                    <c:v>10</c:v>
                  </c:pt>
                  <c:pt idx="2">
                    <c:v>15</c:v>
                  </c:pt>
                  <c:pt idx="3">
                    <c:v>20</c:v>
                  </c:pt>
                  <c:pt idx="4">
                    <c:v>25</c:v>
                  </c:pt>
                  <c:pt idx="5">
                    <c:v>30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27.64</c:v>
                </c:pt>
                <c:pt idx="1">
                  <c:v>37.24</c:v>
                </c:pt>
                <c:pt idx="2">
                  <c:v>39.1</c:v>
                </c:pt>
                <c:pt idx="3">
                  <c:v>42.3</c:v>
                </c:pt>
                <c:pt idx="4">
                  <c:v>40.76</c:v>
                </c:pt>
                <c:pt idx="5">
                  <c:v>40.96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TAR@FAR=0,1%</c:v>
                </c:pt>
              </c:strCache>
            </c:strRef>
          </c:tx>
          <c:spPr>
            <a:solidFill>
              <a:srgbClr val="14A0A5"/>
            </a:solidFill>
            <a:ln w="31750" cap="flat">
              <a:solidFill>
                <a:srgbClr val="14A0A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4A0A5"/>
              </a:solidFill>
              <a:ln w="9525" cap="flat">
                <a:solidFill>
                  <a:srgbClr val="14A0A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5</c:v>
                  </c:pt>
                  <c:pt idx="1">
                    <c:v>10</c:v>
                  </c:pt>
                  <c:pt idx="2">
                    <c:v>15</c:v>
                  </c:pt>
                  <c:pt idx="3">
                    <c:v>20</c:v>
                  </c:pt>
                  <c:pt idx="4">
                    <c:v>25</c:v>
                  </c:pt>
                  <c:pt idx="5">
                    <c:v>30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15.38</c:v>
                </c:pt>
                <c:pt idx="1">
                  <c:v>17.12</c:v>
                </c:pt>
                <c:pt idx="2">
                  <c:v>23.06</c:v>
                </c:pt>
                <c:pt idx="3">
                  <c:v>23.96</c:v>
                </c:pt>
                <c:pt idx="4">
                  <c:v>24.88</c:v>
                </c:pt>
                <c:pt idx="5">
                  <c:v>24.88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Época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TAR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00000"/>
                </a:solidFill>
                <a:latin typeface="Arial"/>
              </a:rPr>
              <a:t>TAR@FAR=1% por valor de α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TAR@FAR=1%</c:v>
                </c:pt>
              </c:strCache>
            </c:strRef>
          </c:tx>
          <c:spPr>
            <a:solidFill>
              <a:srgbClr val="8888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8888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737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4A0A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D7377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Fine-tuning
simples (α=1,0)</c:v>
                  </c:pt>
                  <c:pt idx="1">
                    <c:v>α = 0,3</c:v>
                  </c:pt>
                  <c:pt idx="2">
                    <c:v>α = 0,5</c:v>
                  </c:pt>
                  <c:pt idx="3">
                    <c:v>α = 0,7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47.91</c:v>
                </c:pt>
                <c:pt idx="1">
                  <c:v>50.02</c:v>
                </c:pt>
                <c:pt idx="2">
                  <c:v>49.19</c:v>
                </c:pt>
                <c:pt idx="3">
                  <c:v>50.45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2"/>
          <c:min val="44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00000"/>
                </a:solidFill>
                <a:latin typeface="Arial"/>
              </a:rPr>
              <a:t>TAR@FAR=1% — Modelo SE+CBAM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TAR@FAR=1%</c:v>
                </c:pt>
              </c:strCache>
            </c:strRef>
          </c:tx>
          <c:spPr>
            <a:solidFill>
              <a:srgbClr val="0D7377"/>
            </a:solidFill>
            <a:ln w="38100" cap="flat">
              <a:solidFill>
                <a:srgbClr val="0D737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D7377"/>
              </a:solidFill>
              <a:ln w="9525" cap="flat">
                <a:solidFill>
                  <a:srgbClr val="0D737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5</c:v>
                  </c:pt>
                  <c:pt idx="1">
                    <c:v>10</c:v>
                  </c:pt>
                  <c:pt idx="2">
                    <c:v>15</c:v>
                  </c:pt>
                  <c:pt idx="3">
                    <c:v>20</c:v>
                  </c:pt>
                  <c:pt idx="4">
                    <c:v>25</c:v>
                  </c:pt>
                  <c:pt idx="5">
                    <c:v>30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53.65</c:v>
                </c:pt>
                <c:pt idx="1">
                  <c:v>54.61</c:v>
                </c:pt>
                <c:pt idx="2">
                  <c:v>52.03</c:v>
                </c:pt>
                <c:pt idx="3">
                  <c:v>50.04</c:v>
                </c:pt>
                <c:pt idx="4">
                  <c:v>49.92</c:v>
                </c:pt>
                <c:pt idx="5">
                  <c:v>48.2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7"/>
          <c:min val="46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Arial"/>
              </a:rPr>
              <a:t>TAR@FAR=1% por configuração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TAR@FAR=1%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8888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4A0A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4A0A5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D7377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D7377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Zero-shot</c:v>
                  </c:pt>
                  <c:pt idx="1">
                    <c:v>Fine-tuning
simples</c:v>
                  </c:pt>
                  <c:pt idx="2">
                    <c:v>Clipping
α=0,3</c:v>
                  </c:pt>
                  <c:pt idx="3">
                    <c:v>Clipping
α=0,7</c:v>
                  </c:pt>
                  <c:pt idx="4">
                    <c:v>CBAM only
(10 ép.)</c:v>
                  </c:pt>
                  <c:pt idx="5">
                    <c:v>SE+CBAM
(30 ép. / ép.10)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6.6</c:v>
                </c:pt>
                <c:pt idx="1">
                  <c:v>42.3</c:v>
                </c:pt>
                <c:pt idx="2">
                  <c:v>50.02</c:v>
                </c:pt>
                <c:pt idx="3">
                  <c:v>50.45</c:v>
                </c:pt>
                <c:pt idx="4">
                  <c:v>54.19</c:v>
                </c:pt>
                <c:pt idx="5">
                  <c:v>54.61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2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abertura. Apresente o grupo e o tema: adaptação do AdaFace para câmeras de vigilância reais com QMUL-SurvFace.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a lacuna de domínio: o AdaFace foi treinado em imagens web de alta resolução (MS1MV2). Em câmeras reais, a qualidade é homogeneamente baixa, o que quebra a premissa do estimador de qualidade ẑ.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QMUL-SurvFace foi criado com câmeras reais — as imagens não são downsampled artificialmente. Isso o torna o benchmark mais realista para CCTV.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Destaque: o AdaFace NÃO é detector de faces — é um extrator de embeddings. A inovação é a margem que se adapta pela qualidade estimada via norma do embedding, sem precisar de um módulo externo de qualidade.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baseline zero-shot mostra que mesmo o estado da arte falha quando não há adaptação de domínio. TAR=6,6% @ FAR=1% significa que em 100 impostores, 1 passa — mas apenas 6,6% dos genuínos são reconhecidos. Inaceitável para vigilância.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fine-tuning simples já trouxe ganho enorme (+35,7 pp). A acurácia de treino chegou a 66,8% — não 100%, porque a loss AdaFace usa margem intencional. O melhor checkpoint foi na época 20; depois, overfitting.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clipping assimétrico é a modificação mais elegante: 1 linha de código, fundamentação teórica sólida, e ganho de ~8pp sobre o fine-tuning simples. A insensibilidade à escolha de α valida a robustez da abordagem.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Inserção dos módulos: após conv2+bn2, antes da soma residual. Apenas 0,67M novos parâmetros (1,5% do modelo). CBAM isolado ganha porque já tem atenção de canal embutida — adicionar SE cria redundância e piora os gradientes.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pico na época 10 é característico de overfitting em datasets pequenos. O EVAL_EVERY=5 pode ter perdido o ótimo real entre épocas 8-12. Recomendação futura: early stopping com eval mais frequente.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slide resume toda a progressão. Enfatize que cada etapa teve motivação teórica clara. O maior salto foi o fine-tuning simples (+35,7 pp). As modificações adicionais trouxeram +12 pp além disso.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Encerre com a mensagem central: a adaptação de domínio progressiva — fine-tuning, clipping assimétrico, atenção — gerou ganhos aditivos e justificados teoricamente. O modelo está exportado em ONNX (176 MB) e é diretamente integrável.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731520"/>
            <a:ext cx="914400" cy="9144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965960"/>
            <a:ext cx="914400" cy="91440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200400"/>
            <a:ext cx="914400" cy="91440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45720" y="777240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Câmeras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C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Vigilância</a:t>
            </a:r>
            <a:endParaRPr lang="en-US" sz="1100" dirty="0"/>
          </a:p>
        </p:txBody>
      </p:sp>
      <p:sp>
        <p:nvSpPr>
          <p:cNvPr id="7" name="Text 2"/>
          <p:cNvSpPr/>
          <p:nvPr/>
        </p:nvSpPr>
        <p:spPr>
          <a:xfrm>
            <a:off x="45720" y="201168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AdaFace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C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IResNet-50</a:t>
            </a:r>
            <a:endParaRPr lang="en-US" sz="1100" dirty="0"/>
          </a:p>
        </p:txBody>
      </p:sp>
      <p:sp>
        <p:nvSpPr>
          <p:cNvPr id="8" name="Text 3"/>
          <p:cNvSpPr/>
          <p:nvPr/>
        </p:nvSpPr>
        <p:spPr>
          <a:xfrm>
            <a:off x="45720" y="324612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C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Verificação</a:t>
            </a:r>
            <a:endParaRPr lang="en-US" sz="1100" dirty="0"/>
          </a:p>
        </p:txBody>
      </p:sp>
      <p:sp>
        <p:nvSpPr>
          <p:cNvPr id="9" name="Text 4"/>
          <p:cNvSpPr/>
          <p:nvPr/>
        </p:nvSpPr>
        <p:spPr>
          <a:xfrm>
            <a:off x="3200400" y="64008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Fine-Tuning do AdaFace para</a:t>
            </a:r>
            <a:endParaRPr lang="en-US" sz="2800" dirty="0"/>
          </a:p>
        </p:txBody>
      </p:sp>
      <p:sp>
        <p:nvSpPr>
          <p:cNvPr id="10" name="Text 5"/>
          <p:cNvSpPr/>
          <p:nvPr/>
        </p:nvSpPr>
        <p:spPr>
          <a:xfrm>
            <a:off x="3200400" y="1207008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2D9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Reconhecimento Facial em Vigilância</a:t>
            </a:r>
            <a:endParaRPr lang="en-US" sz="2800" dirty="0"/>
          </a:p>
        </p:txBody>
      </p:sp>
      <p:sp>
        <p:nvSpPr>
          <p:cNvPr id="11" name="Text 6"/>
          <p:cNvSpPr/>
          <p:nvPr/>
        </p:nvSpPr>
        <p:spPr>
          <a:xfrm>
            <a:off x="3200400" y="192024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Adaptação de Domínio com Clipping Assimétrico e Módulos de Atenção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3200400" y="2542032"/>
            <a:ext cx="5669280" cy="228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3200400" y="2679192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Cleiver Batista da Silva Junior  ·  João Pedro de Castro Gomes Fernandes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Bianca Fernandes Visco  ·  João Henrique Félix Simielli</a:t>
            </a:r>
            <a:endParaRPr lang="en-US" sz="1150" dirty="0"/>
          </a:p>
        </p:txBody>
      </p:sp>
      <p:sp>
        <p:nvSpPr>
          <p:cNvPr id="14" name="Text 9"/>
          <p:cNvSpPr/>
          <p:nvPr/>
        </p:nvSpPr>
        <p:spPr>
          <a:xfrm>
            <a:off x="3200400" y="3401568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Instituto de Informática — UFG  |  Visão Computacional  |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Contexto e Problema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modelos de alta resolução falham em câmeras reais?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042416"/>
            <a:ext cx="8412480" cy="228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188720"/>
            <a:ext cx="4023360" cy="3566160"/>
          </a:xfrm>
          <a:prstGeom prst="rect">
            <a:avLst>
              <a:gd name="adj" fmla="val 2051"/>
            </a:avLst>
          </a:prstGeom>
          <a:solidFill>
            <a:srgbClr val="EEF3F8"/>
          </a:solidFill>
          <a:ln w="9525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2801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Cenário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691640"/>
            <a:ext cx="3703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Câmeras CCTV produzem faces de ~20×25 px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Desfoque, ruído de sensor, artefatos JPEG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AdaFace espera entrada de 112×112 px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Upscale de 4,5× com informação insuficiente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0" y="1188720"/>
            <a:ext cx="4251960" cy="3566160"/>
          </a:xfrm>
          <a:prstGeom prst="rect">
            <a:avLst>
              <a:gd name="adj" fmla="val 2051"/>
            </a:avLst>
          </a:prstGeom>
          <a:solidFill>
            <a:srgbClr val="1B2A4A"/>
          </a:solidFill>
          <a:ln w="9525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0" y="12801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2D9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Problema do ẑ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0" y="1691640"/>
            <a:ext cx="3886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AdaFace usa a norma do embedding como proxy de qualidade.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batches de vigilância, todas as imagens são ruins — a 'menos pior' recebe ẑ ≈ +1 e margem máxima, como se fosse uma imagem nítida.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a loss penaliza o modelo por não reconhecer algo genuinamente irreconhecível.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Dataset: QMUL-SurvFace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público de reconhecimento facial em vigilância real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042416"/>
            <a:ext cx="8412480" cy="228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188720"/>
            <a:ext cx="2743200" cy="1005840"/>
          </a:xfrm>
          <a:prstGeom prst="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261872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D73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220.888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320040" y="1783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imagens de treino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188720"/>
            <a:ext cx="2743200" cy="1005840"/>
          </a:xfrm>
          <a:prstGeom prst="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46120" y="1261872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5.319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246120" y="1783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identidades de treino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72200" y="1188720"/>
            <a:ext cx="2651760" cy="1005840"/>
          </a:xfrm>
          <a:prstGeom prst="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72200" y="1261872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D73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10.640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172200" y="17830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pares de verificação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423160"/>
            <a:ext cx="4114800" cy="777240"/>
          </a:xfrm>
          <a:prstGeom prst="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4632" y="24963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Resolução típica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4632" y="277063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~20×25 px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663440" y="2423160"/>
            <a:ext cx="4114800" cy="777240"/>
          </a:xfrm>
          <a:prstGeom prst="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28032" y="24963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de avaliação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28032" y="277063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Verificação open-set (1:1)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20040" y="3429000"/>
            <a:ext cx="4114800" cy="777240"/>
          </a:xfrm>
          <a:prstGeom prst="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4632" y="35021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IDs treino/teste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4632" y="377647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Disjunto (sem sobreposição)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4663440" y="3429000"/>
            <a:ext cx="4114800" cy="777240"/>
          </a:xfrm>
          <a:prstGeom prst="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28032" y="35021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 com ≤ 5 imagens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28032" y="377647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48% do dataset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AdaFace: Arquitetura e Loss Adaptativa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norma do embedding como proxy de qualidade da imagem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042416"/>
            <a:ext cx="8412480" cy="228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234440"/>
            <a:ext cx="1920240" cy="1325880"/>
          </a:xfrm>
          <a:prstGeom prst="rect">
            <a:avLst>
              <a:gd name="adj" fmla="val 5517"/>
            </a:avLst>
          </a:prstGeom>
          <a:solidFill>
            <a:srgbClr val="1B2A4A"/>
          </a:solidFill>
          <a:ln w="9525">
            <a:solidFill>
              <a:srgbClr val="D0DC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29844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Imagem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112×112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74320" y="184708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alinhado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A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landmarks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194560" y="1783080"/>
            <a:ext cx="256032" cy="3657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23160" y="1737360"/>
            <a:ext cx="45720" cy="12801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50592" y="1234440"/>
            <a:ext cx="1920240" cy="1325880"/>
          </a:xfrm>
          <a:prstGeom prst="rect">
            <a:avLst>
              <a:gd name="adj" fmla="val 5517"/>
            </a:avLst>
          </a:prstGeom>
          <a:solidFill>
            <a:srgbClr val="0D7377"/>
          </a:solidFill>
          <a:ln w="9525">
            <a:solidFill>
              <a:srgbClr val="D0DC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50592" y="129844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IResNet-50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Backbone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450592" y="184708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43,6M parâmetros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A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blocos residuais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370832" y="1783080"/>
            <a:ext cx="256032" cy="3657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99432" y="1737360"/>
            <a:ext cx="45720" cy="12801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26864" y="1234440"/>
            <a:ext cx="1920240" cy="1325880"/>
          </a:xfrm>
          <a:prstGeom prst="rect">
            <a:avLst>
              <a:gd name="adj" fmla="val 5517"/>
            </a:avLst>
          </a:prstGeom>
          <a:solidFill>
            <a:srgbClr val="0D7377"/>
          </a:solidFill>
          <a:ln w="9525">
            <a:solidFill>
              <a:srgbClr val="D0DC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26864" y="129844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Embedding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512-dim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626864" y="184708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 = proxy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A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qualidade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547104" y="1783080"/>
            <a:ext cx="256032" cy="3657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75704" y="1737360"/>
            <a:ext cx="45720" cy="12801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03136" y="1234440"/>
            <a:ext cx="1920240" cy="1325880"/>
          </a:xfrm>
          <a:prstGeom prst="rect">
            <a:avLst>
              <a:gd name="adj" fmla="val 5517"/>
            </a:avLst>
          </a:prstGeom>
          <a:solidFill>
            <a:srgbClr val="0D1B2A"/>
          </a:solidFill>
          <a:ln w="9525">
            <a:solidFill>
              <a:srgbClr val="D0DC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03136" y="129844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AdaFace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803136" y="184708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margem adaptativa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A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qualidade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" y="2743200"/>
            <a:ext cx="8503920" cy="1371600"/>
          </a:xfrm>
          <a:prstGeom prst="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02920" y="2816352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3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Fórmula da Margem Adaptativa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" y="3127248"/>
            <a:ext cx="8138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margin  =  m  +  h × ẑ × m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02920" y="3547872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ẑ alto (imagem boa)  →  margem maior  →  treino mais difícil     |     </a:t>
            </a:r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ẑ baixo (imagem ruim)  →  margem menor  →  treino mais suave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Baseline: Inferência Zero-Shot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Desempenho do AdaFace pré-treinado (MS1MV2) aplicado diretamente ao QMUL-SurvFace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042416"/>
            <a:ext cx="8412480" cy="228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234440"/>
            <a:ext cx="4114800" cy="2560320"/>
          </a:xfrm>
          <a:prstGeom prst="rect">
            <a:avLst>
              <a:gd name="adj" fmla="val 2857"/>
            </a:avLst>
          </a:prstGeom>
          <a:solidFill>
            <a:srgbClr val="0D1B2A"/>
          </a:solidFill>
          <a:ln w="9525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35331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2D9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 @ FAR = 1%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73736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6,6%</a:t>
            </a:r>
            <a:endParaRPr lang="en-US" sz="5800" dirty="0"/>
          </a:p>
        </p:txBody>
      </p:sp>
      <p:sp>
        <p:nvSpPr>
          <p:cNvPr id="8" name="Text 6"/>
          <p:cNvSpPr/>
          <p:nvPr/>
        </p:nvSpPr>
        <p:spPr>
          <a:xfrm>
            <a:off x="502920" y="26060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ao aleatório em uso prático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30175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AUC: 0,659  |  Acc. best threshold: 61,97%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234440"/>
            <a:ext cx="4160520" cy="256032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28032" y="132588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73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Detalhe por FAR</a:t>
            </a:r>
            <a:endParaRPr lang="en-US" sz="12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28032" y="1709928"/>
          <a:ext cx="3794760" cy="1600200"/>
        </p:xfrm>
        <a:graphic>
          <a:graphicData uri="http://schemas.openxmlformats.org/drawingml/2006/table">
            <a:tbl>
              <a:tblPr/>
              <a:tblGrid>
                <a:gridCol w="1897380"/>
                <a:gridCol w="1897380"/>
              </a:tblGrid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 Alvo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 Obtido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 = 10%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26,00%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 = 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6,60%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 = 0,1%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320040" y="3931920"/>
            <a:ext cx="8503920" cy="640080"/>
          </a:xfrm>
          <a:prstGeom prst="rect">
            <a:avLst/>
          </a:prstGeom>
          <a:solidFill>
            <a:srgbClr val="FFF3CD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Conclusão: a lacuna de domínio entre MS1MV2 e câmeras reais resulta em colapso de desempenho. Fine-tuning no domínio alvo é necessário.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Etapa 1: Fine-Tuning Simples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IResNet-50 + loss AdaFace original — 30 épocas no QMUL-SurvFace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042416"/>
            <a:ext cx="8412480" cy="228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320040" y="1188720"/>
          <a:ext cx="53035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806440" y="1188720"/>
            <a:ext cx="3017520" cy="1005840"/>
          </a:xfrm>
          <a:prstGeom prst="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806440" y="1261872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D73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42,3%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5806440" y="17830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TAR@FAR=1% (época 20)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806440" y="2423160"/>
            <a:ext cx="3017520" cy="1005840"/>
          </a:xfrm>
          <a:prstGeom prst="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806440" y="2496312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17A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+35,7 pp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5806440" y="30175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ganho vs zero-shot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806440" y="3639312"/>
            <a:ext cx="3017520" cy="1024128"/>
          </a:xfrm>
          <a:prstGeom prst="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943600" y="371246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3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Configuração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943600" y="4005072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Backbone: IResNet-50 (MS1MV2)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 · LR backbone 0,001 · head 0,01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Warmup 5 ép. + cosine annealing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Proposta 1: Clipping Assimétrico do ẑ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Modificação cirúrgica na loss AdaFace para domínios homogeneamente degradados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042416"/>
            <a:ext cx="8412480" cy="228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188720"/>
            <a:ext cx="4114800" cy="1554480"/>
          </a:xfrm>
          <a:prstGeom prst="rect">
            <a:avLst>
              <a:gd name="adj" fmla="val 4706"/>
            </a:avLst>
          </a:prstGeom>
          <a:solidFill>
            <a:srgbClr val="FFF3CD"/>
          </a:solidFill>
          <a:ln w="9525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26187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Problema Original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609344"/>
            <a:ext cx="3749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ẑ ∈ [−1, +1]: a imagem 'menos pior' do batch recebe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ẑ ≈ +1 e margem máxima — como se fosse nítida.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4160520" cy="1554480"/>
          </a:xfrm>
          <a:prstGeom prst="rect">
            <a:avLst>
              <a:gd name="adj" fmla="val 4706"/>
            </a:avLst>
          </a:prstGeom>
          <a:solidFill>
            <a:srgbClr val="E8F8F5"/>
          </a:solidFill>
          <a:ln w="9525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28032" y="1261872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7A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Proposta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28032" y="1609344"/>
            <a:ext cx="37947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ẑ ∈ [−1, +α], α &lt; 1: nenhuma imagem de vigilância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chega à margem máxima mesmo sendo a menos ruim.</a:t>
            </a:r>
            <a:endParaRPr lang="en-US" sz="12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320040" y="2907792"/>
          <a:ext cx="54864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5943600" y="2907792"/>
            <a:ext cx="2880360" cy="1965960"/>
          </a:xfrm>
          <a:prstGeom prst="rect">
            <a:avLst>
              <a:gd name="adj" fmla="val 3721"/>
            </a:avLst>
          </a:prstGeom>
          <a:solidFill>
            <a:srgbClr val="0D1B2A"/>
          </a:solidFill>
          <a:ln w="9525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080760" y="299923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2D9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080760" y="3364992"/>
            <a:ext cx="26060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α &lt; 1 superam o fine-tuning simples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= 0,7 → TAR = 50,45% (melhor)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Implementação: 1 linha de código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Insensível à escolha exata de α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Proposta 2: Módulos de Atenção CBAM e SE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Recalibrando o backbone para ignorar ruído e focar na geometria facial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042416"/>
            <a:ext cx="8412480" cy="228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188720"/>
            <a:ext cx="4114800" cy="1920240"/>
          </a:xfrm>
          <a:prstGeom prst="rect">
            <a:avLst>
              <a:gd name="adj" fmla="val 3810"/>
            </a:avLst>
          </a:prstGeom>
          <a:solidFill>
            <a:srgbClr val="1B2A4A"/>
          </a:solidFill>
          <a:ln w="9525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75488" y="1261872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D9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Block  (Squeeze-and-Excitation)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75488" y="1627632"/>
            <a:ext cx="3794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 por canal via avg-pool global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Gargalo C/16 para compressão eficiente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Suprime canais com ruído de sensor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4160520" cy="1920240"/>
          </a:xfrm>
          <a:prstGeom prst="rect">
            <a:avLst>
              <a:gd name="adj" fmla="val 3810"/>
            </a:avLst>
          </a:prstGeom>
          <a:solidFill>
            <a:srgbClr val="0D7377"/>
          </a:solidFill>
          <a:ln w="9525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18888" y="126187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CBAM  (Canal + Espacial)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818888" y="1627632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 de canal: avg-pool + max-pool combinados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 espacial: convolução 7×7 sobre o mapa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 quê e onde focar no rosto degradado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" y="3291840"/>
            <a:ext cx="8503920" cy="1536192"/>
          </a:xfrm>
          <a:prstGeom prst="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" y="3364992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3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Ablation Study — 10 épocas cada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3712464"/>
          <a:ext cx="8229600" cy="100584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Configuração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TAR@FAR=1%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only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53,87%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88,39%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19,14%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CBAM only ← melhor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54,19%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90,89%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16,56%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+ CBAM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53,48%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89,58%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18,07%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 Final: SE + CBAM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 completo de 30 épocas — pico na época 10, overfitting após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042416"/>
            <a:ext cx="8412480" cy="228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320040" y="1188720"/>
          <a:ext cx="53035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806440" y="1188720"/>
            <a:ext cx="3017520" cy="1005840"/>
          </a:xfrm>
          <a:prstGeom prst="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806440" y="1261872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D73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54,61%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5806440" y="17830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TAR@FAR=1% (época 10)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806440" y="2423160"/>
            <a:ext cx="3017520" cy="1005840"/>
          </a:xfrm>
          <a:prstGeom prst="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806440" y="2496312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D73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90,94%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5806440" y="30175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máximo (época 5)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806440" y="3639312"/>
            <a:ext cx="3017520" cy="1005840"/>
          </a:xfrm>
          <a:prstGeom prst="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806440" y="3712464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17A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16,47%</a:t>
            </a:r>
            <a:endParaRPr lang="en-US" sz="3400" dirty="0"/>
          </a:p>
        </p:txBody>
      </p:sp>
      <p:sp>
        <p:nvSpPr>
          <p:cNvPr id="14" name="Text 11"/>
          <p:cNvSpPr/>
          <p:nvPr/>
        </p:nvSpPr>
        <p:spPr>
          <a:xfrm>
            <a:off x="5806440" y="423367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EER mínimo (época 5)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20040" y="4663440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Overfitting após época 10: loss de treino continua caindo mas TAR de verificação decresce — sinal de memorização das identidades de treino.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Comparativo Geral de Todas as Abordagens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Progressão de ganhos em TAR@FAR=1%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042416"/>
            <a:ext cx="8412480" cy="228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320040" y="1188720"/>
          <a:ext cx="85039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320040" y="4773168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7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Meta: &gt; 50%  ✓ Atingida com clipping assimétrico (α=0,7) e superada com módulos de atenção (54,61%)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Conclusões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28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969264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no domínio alvo é essencial: pré-processamento (SR, CLAHE, TTA) falha — o fine-tuning simples trouxe +35,7 pp.</a:t>
            </a:r>
            <a:endParaRPr lang="en-US" sz="12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20240"/>
            <a:ext cx="320040" cy="3200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14400" y="1883664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Clipping assimétrico (1 linha de código): corrige a premissa quebrada do ẑ em batches homogêneos e adiciona +8 pp sobre o fine-tuning.</a:t>
            </a:r>
            <a:endParaRPr lang="en-US" sz="12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834640"/>
            <a:ext cx="320040" cy="32004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14400" y="2798064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de atenção CBAM/SE: apenas 1,5% de parâmetros extras elevam o TAR para 54,61%, superando a meta de 50%.</a:t>
            </a:r>
            <a:endParaRPr lang="en-US" sz="12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749040"/>
            <a:ext cx="320040" cy="32004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14400" y="3712464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CBAM isolado é mais eficiente: AUC 90,89% e EER 16,56% — combinar SE+CBAM cria redundância sem ganho.</a:t>
            </a:r>
            <a:endParaRPr lang="en-US" sz="1250" dirty="0"/>
          </a:p>
        </p:txBody>
      </p:sp>
      <p:sp>
        <p:nvSpPr>
          <p:cNvPr id="12" name="Shape 6"/>
          <p:cNvSpPr/>
          <p:nvPr/>
        </p:nvSpPr>
        <p:spPr>
          <a:xfrm>
            <a:off x="457200" y="4617720"/>
            <a:ext cx="8229600" cy="420624"/>
          </a:xfrm>
          <a:prstGeom prst="rect">
            <a:avLst>
              <a:gd name="adj" fmla="val 17391"/>
            </a:avLst>
          </a:prstGeom>
          <a:solidFill>
            <a:srgbClr val="1B2A4A"/>
          </a:solidFill>
          <a:ln w="9525">
            <a:solidFill>
              <a:srgbClr val="D0DCE8"/>
            </a:solidFill>
            <a:prstDash val="solid"/>
          </a:ln>
        </p:spPr>
      </p:sp>
      <p:sp>
        <p:nvSpPr>
          <p:cNvPr id="13" name="Text 7"/>
          <p:cNvSpPr/>
          <p:nvPr/>
        </p:nvSpPr>
        <p:spPr>
          <a:xfrm>
            <a:off x="594360" y="4663440"/>
            <a:ext cx="7955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2D9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passos: early stopping por validação  ·  CBAM only + regularização  ·  destilação de conhecimento  ·  protocolo de identificação open-set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Fine-Tuning AdaFace — QMUL-SurvFace</dc:title>
  <dc:subject>PptxGenJS Presentation</dc:subject>
  <dc:creator>Grupo VC</dc:creator>
  <cp:lastModifiedBy>Grupo VC</cp:lastModifiedBy>
  <cp:revision>1</cp:revision>
  <dcterms:created xsi:type="dcterms:W3CDTF">2026-06-14T02:06:12Z</dcterms:created>
  <dcterms:modified xsi:type="dcterms:W3CDTF">2026-06-14T02:06:12Z</dcterms:modified>
</cp:coreProperties>
</file>